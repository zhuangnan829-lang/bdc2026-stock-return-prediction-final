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336792"/>
            <a:ext cx="11064240" cy="0"/>
          </a:xfrm>
          <a:prstGeom prst="line">
            <a:avLst/>
          </a:prstGeom>
          <a:noFill/>
          <a:ln w="12700">
            <a:solidFill>
              <a:srgbClr val="D8E4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>
              <a:alpha val="95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83880" y="777240"/>
            <a:ext cx="2834640" cy="2834640"/>
          </a:xfrm>
          <a:prstGeom prst="ellipse">
            <a:avLst/>
          </a:prstGeom>
          <a:solidFill>
            <a:srgbClr val="DCEEFF">
              <a:alpha val="9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32520" y="1325880"/>
            <a:ext cx="1737360" cy="1737360"/>
          </a:xfrm>
          <a:prstGeom prst="ellipse">
            <a:avLst/>
          </a:prstGeom>
          <a:solidFill>
            <a:srgbClr val="BFE6FF">
              <a:alpha val="92000"/>
            </a:srgbClr>
          </a:solidFill>
          <a:ln w="12700">
            <a:solidFill>
              <a:srgbClr val="BFE6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900000">
            <a:off x="8001000" y="502920"/>
            <a:ext cx="3200400" cy="2926080"/>
          </a:xfrm>
          <a:prstGeom prst="arc">
            <a:avLst/>
          </a:prstGeom>
          <a:solidFill>
            <a:srgbClr val="F7FAFC">
              <a:alpha val="0"/>
            </a:srgbClr>
          </a:solidFill>
          <a:ln w="25400">
            <a:solidFill>
              <a:srgbClr val="8CCBFF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-1080000">
            <a:off x="8641080" y="777240"/>
            <a:ext cx="2560320" cy="2286000"/>
          </a:xfrm>
          <a:prstGeom prst="arc">
            <a:avLst/>
          </a:prstGeom>
          <a:solidFill>
            <a:srgbClr val="F7FAFC">
              <a:alpha val="0"/>
            </a:srgbClr>
          </a:solidFill>
          <a:ln w="16510">
            <a:solidFill>
              <a:srgbClr val="9FDBFF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1207008"/>
            <a:ext cx="7360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基于机器学习与组合回测的</a:t>
            </a:r>
            <a:endParaRPr lang="en-US" sz="2850" dirty="0"/>
          </a:p>
          <a:p>
            <a:pPr indent="0" marL="0">
              <a:buNone/>
            </a:pPr>
            <a:r>
              <a:rPr lang="en-US" sz="285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沪深300成分股收益预测及推荐研究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713232" y="2670048"/>
            <a:ext cx="210312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898648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110实验室前沿技术分组研究与专题汇报 · 学术研究风格答辩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13232" y="4462272"/>
            <a:ext cx="4526280" cy="841248"/>
          </a:xfrm>
          <a:prstGeom prst="roundRect">
            <a:avLst>
              <a:gd name="adj" fmla="val 6522"/>
            </a:avLst>
          </a:prstGeom>
          <a:solidFill>
            <a:srgbClr val="F0F6FF"/>
          </a:solidFill>
          <a:ln w="1016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4507992"/>
            <a:ext cx="64008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645152"/>
            <a:ext cx="40233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指导教师：王琼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小组成员：吴冰鑫 · 丁康恩 · 庄钟楠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7424928" y="4526280"/>
            <a:ext cx="1170432" cy="841248"/>
          </a:xfrm>
          <a:prstGeom prst="roundRect">
            <a:avLst>
              <a:gd name="adj" fmla="val 6522"/>
            </a:avLst>
          </a:prstGeom>
          <a:solidFill>
            <a:srgbClr val="F8FBFF"/>
          </a:solidFill>
          <a:ln w="10160">
            <a:solidFill>
              <a:srgbClr val="2563EB">
                <a:alpha val="2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62088" y="4654296"/>
            <a:ext cx="896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Top-K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7562088" y="5038344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从点预测转向组合推荐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759952" y="4526280"/>
            <a:ext cx="1170432" cy="841248"/>
          </a:xfrm>
          <a:prstGeom prst="roundRect">
            <a:avLst>
              <a:gd name="adj" fmla="val 6522"/>
            </a:avLst>
          </a:prstGeom>
          <a:solidFill>
            <a:srgbClr val="F5FCFB"/>
          </a:solidFill>
          <a:ln w="10160">
            <a:solidFill>
              <a:srgbClr val="0EA5A4">
                <a:alpha val="28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97112" y="4654296"/>
            <a:ext cx="896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0EA5A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LSTM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8897112" y="5038344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默认研究主线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0094976" y="4526280"/>
            <a:ext cx="1170432" cy="841248"/>
          </a:xfrm>
          <a:prstGeom prst="roundRect">
            <a:avLst>
              <a:gd name="adj" fmla="val 6522"/>
            </a:avLst>
          </a:prstGeom>
          <a:solidFill>
            <a:srgbClr val="FFFBF5"/>
          </a:solidFill>
          <a:ln w="10160">
            <a:solidFill>
              <a:srgbClr val="D97706">
                <a:alpha val="28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32136" y="4654296"/>
            <a:ext cx="896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D9770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Docker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0232136" y="5038344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结果可复现验证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321040" y="635508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 Research Style · Light Theme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336792"/>
            <a:ext cx="11064240" cy="0"/>
          </a:xfrm>
          <a:prstGeom prst="line">
            <a:avLst/>
          </a:prstGeom>
          <a:noFill/>
          <a:ln w="12700">
            <a:solidFill>
              <a:srgbClr val="D8E4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>
              <a:alpha val="95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84048"/>
            <a:ext cx="832104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汇报要求与项目定位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658368" y="886968"/>
            <a:ext cx="81838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从实验室要求出发，构建“研究问题—真实实验—可复现交付”的答辩叙事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8979408" y="438912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110 LAB · Research Presentation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11000232" y="640080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621792" y="640080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沪深300收益预测与组合推荐</a:t>
            </a:r>
            <a:endParaRPr lang="en-US" sz="740" dirty="0"/>
          </a:p>
        </p:txBody>
      </p:sp>
      <p:sp>
        <p:nvSpPr>
          <p:cNvPr id="9" name="Text 7"/>
          <p:cNvSpPr/>
          <p:nvPr/>
        </p:nvSpPr>
        <p:spPr>
          <a:xfrm>
            <a:off x="713232" y="135331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685800" y="1554480"/>
            <a:ext cx="406908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8890">
            <a:solidFill>
              <a:srgbClr val="D8E4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783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通知要求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68680" y="2212848"/>
            <a:ext cx="361188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8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10—15页，体现研究问题、方法思路、系统设计、实验结果、结论与思考</a:t>
            </a:r>
            <a:endParaRPr lang="en-US" sz="1280" dirty="0"/>
          </a:p>
          <a:p>
            <a:r>
              <a:rPr lang="en-US" sz="128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避免概念介绍，强调真实系统、真实实验、真实结果</a:t>
            </a:r>
            <a:endParaRPr lang="en-US" sz="1280" dirty="0"/>
          </a:p>
          <a:p>
            <a:r>
              <a:rPr lang="en-US" sz="128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从研究价值、技术难点、实验结论、落地可能性展开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5166360" y="135331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POSITIONING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20640" y="1554480"/>
            <a:ext cx="530352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8890">
            <a:solidFill>
              <a:srgbClr val="D8E4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49240" y="1783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项目回应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321808" y="2212848"/>
            <a:ext cx="4663440" cy="2148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8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面向沪深300短期收益预测，输出Top-5组合推荐结果</a:t>
            </a:r>
            <a:endParaRPr lang="en-US" sz="1280" dirty="0"/>
          </a:p>
          <a:p>
            <a:r>
              <a:rPr lang="en-US" sz="128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形成数据处理、特征工程、模型训练、排序推荐、组合回测与冻结提交闭环</a:t>
            </a:r>
            <a:endParaRPr lang="en-US" sz="1280" dirty="0"/>
          </a:p>
          <a:p>
            <a:r>
              <a:rPr lang="en-US" sz="128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通过测试、Docker一致性与材料归档提升可检查性和可复现性</a:t>
            </a:r>
            <a:endParaRPr lang="en-US" sz="1280" dirty="0"/>
          </a:p>
        </p:txBody>
      </p:sp>
      <p:sp>
        <p:nvSpPr>
          <p:cNvPr id="17" name="Shape 15"/>
          <p:cNvSpPr/>
          <p:nvPr/>
        </p:nvSpPr>
        <p:spPr>
          <a:xfrm>
            <a:off x="713232" y="5230368"/>
            <a:ext cx="16002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160">
            <a:solidFill>
              <a:srgbClr val="2563EB">
                <a:alpha val="28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535838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15分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850392" y="574243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选题价值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880360" y="5230368"/>
            <a:ext cx="1600200" cy="841248"/>
          </a:xfrm>
          <a:prstGeom prst="roundRect">
            <a:avLst>
              <a:gd name="adj" fmla="val 6522"/>
            </a:avLst>
          </a:prstGeom>
          <a:solidFill>
            <a:srgbClr val="FFF9F0"/>
          </a:solidFill>
          <a:ln w="10160">
            <a:solidFill>
              <a:srgbClr val="D97706">
                <a:alpha val="28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17520" y="535838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D9770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30分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3017520" y="574243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完成质量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047488" y="5230368"/>
            <a:ext cx="16002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160">
            <a:solidFill>
              <a:srgbClr val="2563EB">
                <a:alpha val="28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84648" y="535838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25分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5184648" y="574243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技术深度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214616" y="5230368"/>
            <a:ext cx="16002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160">
            <a:solidFill>
              <a:srgbClr val="2563EB">
                <a:alpha val="28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51776" y="535838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15分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7351776" y="574243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汇报表达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381744" y="5230368"/>
            <a:ext cx="16002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160">
            <a:solidFill>
              <a:srgbClr val="2563EB">
                <a:alpha val="28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18904" y="535838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15分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9518904" y="574243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团队协作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31520" y="6153912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课题权重因子：金融时间序列收益预测与组合推荐研究 K = 1.12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336792"/>
            <a:ext cx="11064240" cy="0"/>
          </a:xfrm>
          <a:prstGeom prst="line">
            <a:avLst/>
          </a:prstGeom>
          <a:noFill/>
          <a:ln w="12700">
            <a:solidFill>
              <a:srgbClr val="D8E4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>
              <a:alpha val="95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84048"/>
            <a:ext cx="832104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研究问题：金融时序中的弱信号与排序推荐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658368" y="886968"/>
            <a:ext cx="81838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核心不是预测单只股票涨跌，而是识别未来一周相对更优的横截面排序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8979408" y="438912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110 LAB · Research Presentation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11000232" y="640080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621792" y="640080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沪深300收益预测与组合推荐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685800" y="1417320"/>
            <a:ext cx="2971800" cy="425196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8890">
            <a:solidFill>
              <a:srgbClr val="D8E4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13632" y="1417320"/>
            <a:ext cx="2971800" cy="425196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8890">
            <a:solidFill>
              <a:srgbClr val="D8E4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50608" y="1417320"/>
            <a:ext cx="3611880" cy="4251960"/>
          </a:xfrm>
          <a:prstGeom prst="roundRect">
            <a:avLst>
              <a:gd name="adj" fmla="val 1519"/>
            </a:avLst>
          </a:prstGeom>
          <a:solidFill>
            <a:srgbClr val="F1F7FF"/>
          </a:solidFill>
          <a:ln w="8890">
            <a:solidFill>
              <a:srgbClr val="BCD9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66420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挑战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96112" y="2057400"/>
            <a:ext cx="233172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高噪声、非平稳、强波动</a:t>
            </a:r>
            <a:endParaRPr lang="en-US" sz="1200" dirty="0"/>
          </a:p>
          <a:p>
            <a:r>
              <a:rPr lang="en-US" sz="12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未来收益信号弱，易受市场阶段影响</a:t>
            </a:r>
            <a:endParaRPr lang="en-US" sz="1200" dirty="0"/>
          </a:p>
          <a:p>
            <a:r>
              <a:rPr lang="en-US" sz="12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随机切分会造成时序数据泄漏</a:t>
            </a:r>
            <a:endParaRPr lang="en-US" sz="1200" dirty="0"/>
          </a:p>
          <a:p>
            <a:r>
              <a:rPr lang="en-US" sz="12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点预测误差低不等于选股收益高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51376" y="166420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研究问题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133088" y="2057400"/>
            <a:ext cx="233172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哪些特征能提升横截面排序能力？</a:t>
            </a:r>
            <a:endParaRPr lang="en-US" sz="1200" dirty="0"/>
          </a:p>
          <a:p>
            <a:r>
              <a:rPr lang="en-US" sz="12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机器学习、深度模型与规则基线差异如何？</a:t>
            </a:r>
            <a:endParaRPr lang="en-US" sz="1200" dirty="0"/>
          </a:p>
          <a:p>
            <a:r>
              <a:rPr lang="en-US" sz="12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风险调整排序与组合权重是否改善回测表现？</a:t>
            </a:r>
            <a:endParaRPr lang="en-US" sz="1200" dirty="0"/>
          </a:p>
          <a:p>
            <a:r>
              <a:rPr lang="en-US" sz="12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如何保证结果可复现、可检查、可交付？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88352" y="166420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研究目标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79208" y="2057400"/>
            <a:ext cx="274320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构建完整实验链路</a:t>
            </a:r>
            <a:endParaRPr lang="en-US" sz="1200" dirty="0"/>
          </a:p>
          <a:p>
            <a:r>
              <a:rPr lang="en-US" sz="12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用RankIC、NDCG@K、HitRate@K评估排序</a:t>
            </a:r>
            <a:endParaRPr lang="en-US" sz="1200" dirty="0"/>
          </a:p>
          <a:p>
            <a:r>
              <a:rPr lang="en-US" sz="12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用累计收益、Sharpe、最大回撤评估组合</a:t>
            </a:r>
            <a:endParaRPr lang="en-US" sz="1200" dirty="0"/>
          </a:p>
          <a:p>
            <a:r>
              <a:rPr lang="en-US" sz="12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最终输出合规Top-5股票权重文件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13232" y="5687568"/>
            <a:ext cx="9555480" cy="475488"/>
          </a:xfrm>
          <a:prstGeom prst="roundRect">
            <a:avLst>
              <a:gd name="adj" fmla="val 11538"/>
            </a:avLst>
          </a:prstGeom>
          <a:solidFill>
            <a:srgbClr val="F4F8FF"/>
          </a:solidFill>
          <a:ln w="1016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5733288"/>
            <a:ext cx="64008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83387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研究对象：沪深300成分股历史行情数据 → 未来一周收益排序 → Top-K组合推荐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336792"/>
            <a:ext cx="11064240" cy="0"/>
          </a:xfrm>
          <a:prstGeom prst="line">
            <a:avLst/>
          </a:prstGeom>
          <a:noFill/>
          <a:ln w="12700">
            <a:solidFill>
              <a:srgbClr val="D8E4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>
              <a:alpha val="95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84048"/>
            <a:ext cx="832104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数据、目标变量与评价指标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658368" y="886968"/>
            <a:ext cx="81838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将原始行情转化为可训练的横截面样本，并用多维指标避免“只看误差”的偏差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8979408" y="438912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110 LAB · Research Presentation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11000232" y="640080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621792" y="640080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沪深300收益预测与组合推荐</a:t>
            </a:r>
            <a:endParaRPr lang="en-US" sz="740" dirty="0"/>
          </a:p>
        </p:txBody>
      </p:sp>
      <p:sp>
        <p:nvSpPr>
          <p:cNvPr id="9" name="Text 7"/>
          <p:cNvSpPr/>
          <p:nvPr/>
        </p:nvSpPr>
        <p:spPr>
          <a:xfrm>
            <a:off x="685800" y="133502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目标变量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85800" y="1700784"/>
            <a:ext cx="4343400" cy="1005840"/>
          </a:xfrm>
          <a:prstGeom prst="roundRect">
            <a:avLst>
              <a:gd name="adj" fmla="val 5455"/>
            </a:avLst>
          </a:prstGeom>
          <a:solidFill>
            <a:srgbClr val="F7FBFF"/>
          </a:solidFill>
          <a:ln w="8890">
            <a:solidFill>
              <a:srgbClr val="CDE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9751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rᵢ,t+5 = ( Pᵢ,t+5 / Pᵢ,t ) − 1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68680" y="2423160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预测未来一周收益，再按横截面排序生成Top-K股票池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5486400" y="133502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特征维度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0" y="1737360"/>
            <a:ext cx="1572768" cy="941832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 w="8890">
            <a:solidFill>
              <a:srgbClr val="D8E4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96128" y="1947672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价格/收益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577840" y="2221992"/>
            <a:ext cx="1371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开高低收、日收益、滞后收益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7406640" y="1737360"/>
            <a:ext cx="1572768" cy="941832"/>
          </a:xfrm>
          <a:prstGeom prst="roundRect">
            <a:avLst>
              <a:gd name="adj" fmla="val 5825"/>
            </a:avLst>
          </a:prstGeom>
          <a:solidFill>
            <a:srgbClr val="F4F9FF"/>
          </a:solidFill>
          <a:ln w="8890">
            <a:solidFill>
              <a:srgbClr val="D8E4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16368" y="1947672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技术指标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498080" y="2221992"/>
            <a:ext cx="1371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移动均线、价格偏离、动量因子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9326880" y="1737360"/>
            <a:ext cx="1572768" cy="941832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 w="8890">
            <a:solidFill>
              <a:srgbClr val="D8E4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36608" y="1947672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风险/流动性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418320" y="2221992"/>
            <a:ext cx="1371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波动率、换手率、拥挤度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685800" y="3337560"/>
            <a:ext cx="3520440" cy="411480"/>
          </a:xfrm>
          <a:prstGeom prst="rect">
            <a:avLst/>
          </a:prstGeom>
          <a:solidFill>
            <a:srgbClr val="EAF2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2376" y="3383280"/>
            <a:ext cx="344728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类别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4206240" y="3337560"/>
            <a:ext cx="3520440" cy="411480"/>
          </a:xfrm>
          <a:prstGeom prst="rect">
            <a:avLst/>
          </a:prstGeom>
          <a:solidFill>
            <a:srgbClr val="EAF2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42816" y="3383280"/>
            <a:ext cx="344728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核心指标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7726680" y="3337560"/>
            <a:ext cx="3520440" cy="411480"/>
          </a:xfrm>
          <a:prstGeom prst="rect">
            <a:avLst/>
          </a:prstGeom>
          <a:solidFill>
            <a:srgbClr val="EAF2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63256" y="3383280"/>
            <a:ext cx="344728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解释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685800" y="3749040"/>
            <a:ext cx="352044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2376" y="3794760"/>
            <a:ext cx="344728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预测误差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4206240" y="3749040"/>
            <a:ext cx="352044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42816" y="3794760"/>
            <a:ext cx="344728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MAE / RMSE / 方向准确率</a:t>
            </a:r>
            <a:endParaRPr lang="en-US" sz="840" dirty="0"/>
          </a:p>
        </p:txBody>
      </p:sp>
      <p:sp>
        <p:nvSpPr>
          <p:cNvPr id="33" name="Shape 31"/>
          <p:cNvSpPr/>
          <p:nvPr/>
        </p:nvSpPr>
        <p:spPr>
          <a:xfrm>
            <a:off x="7726680" y="3749040"/>
            <a:ext cx="352044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63256" y="3794760"/>
            <a:ext cx="344728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收益率预测偏差与方向判断</a:t>
            </a:r>
            <a:endParaRPr lang="en-US" sz="840" dirty="0"/>
          </a:p>
        </p:txBody>
      </p:sp>
      <p:sp>
        <p:nvSpPr>
          <p:cNvPr id="35" name="Shape 33"/>
          <p:cNvSpPr/>
          <p:nvPr/>
        </p:nvSpPr>
        <p:spPr>
          <a:xfrm>
            <a:off x="685800" y="4160520"/>
            <a:ext cx="3520440" cy="411480"/>
          </a:xfrm>
          <a:prstGeom prst="rect">
            <a:avLst/>
          </a:prstGeom>
          <a:solidFill>
            <a:srgbClr val="FAFC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2376" y="4206240"/>
            <a:ext cx="344728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排序推荐</a:t>
            </a:r>
            <a:endParaRPr lang="en-US" sz="840" dirty="0"/>
          </a:p>
        </p:txBody>
      </p:sp>
      <p:sp>
        <p:nvSpPr>
          <p:cNvPr id="37" name="Shape 35"/>
          <p:cNvSpPr/>
          <p:nvPr/>
        </p:nvSpPr>
        <p:spPr>
          <a:xfrm>
            <a:off x="4206240" y="4160520"/>
            <a:ext cx="3520440" cy="411480"/>
          </a:xfrm>
          <a:prstGeom prst="rect">
            <a:avLst/>
          </a:prstGeom>
          <a:solidFill>
            <a:srgbClr val="FAFC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42816" y="4206240"/>
            <a:ext cx="344728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RankIC / NDCG@K / HitRate@K</a:t>
            </a:r>
            <a:endParaRPr lang="en-US" sz="840" dirty="0"/>
          </a:p>
        </p:txBody>
      </p:sp>
      <p:sp>
        <p:nvSpPr>
          <p:cNvPr id="39" name="Shape 37"/>
          <p:cNvSpPr/>
          <p:nvPr/>
        </p:nvSpPr>
        <p:spPr>
          <a:xfrm>
            <a:off x="7726680" y="4160520"/>
            <a:ext cx="3520440" cy="411480"/>
          </a:xfrm>
          <a:prstGeom prst="rect">
            <a:avLst/>
          </a:prstGeom>
          <a:solidFill>
            <a:srgbClr val="FAFC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63256" y="4206240"/>
            <a:ext cx="344728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横截面排序与Top-K识别能力</a:t>
            </a:r>
            <a:endParaRPr lang="en-US" sz="840" dirty="0"/>
          </a:p>
        </p:txBody>
      </p:sp>
      <p:sp>
        <p:nvSpPr>
          <p:cNvPr id="41" name="Shape 39"/>
          <p:cNvSpPr/>
          <p:nvPr/>
        </p:nvSpPr>
        <p:spPr>
          <a:xfrm>
            <a:off x="685800" y="4572000"/>
            <a:ext cx="352044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2376" y="4617720"/>
            <a:ext cx="344728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组合回测</a:t>
            </a:r>
            <a:endParaRPr lang="en-US" sz="840" dirty="0"/>
          </a:p>
        </p:txBody>
      </p:sp>
      <p:sp>
        <p:nvSpPr>
          <p:cNvPr id="43" name="Shape 41"/>
          <p:cNvSpPr/>
          <p:nvPr/>
        </p:nvSpPr>
        <p:spPr>
          <a:xfrm>
            <a:off x="4206240" y="4572000"/>
            <a:ext cx="352044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42816" y="4617720"/>
            <a:ext cx="344728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累计收益 / Sharpe / 最大回撤</a:t>
            </a:r>
            <a:endParaRPr lang="en-US" sz="840" dirty="0"/>
          </a:p>
        </p:txBody>
      </p:sp>
      <p:sp>
        <p:nvSpPr>
          <p:cNvPr id="45" name="Shape 43"/>
          <p:cNvSpPr/>
          <p:nvPr/>
        </p:nvSpPr>
        <p:spPr>
          <a:xfrm>
            <a:off x="7726680" y="4572000"/>
            <a:ext cx="352044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63256" y="4617720"/>
            <a:ext cx="344728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真实组合收益与风险约束</a:t>
            </a:r>
            <a:endParaRPr lang="en-US" sz="840" dirty="0"/>
          </a:p>
        </p:txBody>
      </p:sp>
      <p:sp>
        <p:nvSpPr>
          <p:cNvPr id="47" name="Shape 45"/>
          <p:cNvSpPr/>
          <p:nvPr/>
        </p:nvSpPr>
        <p:spPr>
          <a:xfrm>
            <a:off x="685800" y="4983480"/>
            <a:ext cx="3520440" cy="411480"/>
          </a:xfrm>
          <a:prstGeom prst="rect">
            <a:avLst/>
          </a:prstGeom>
          <a:solidFill>
            <a:srgbClr val="FAFC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2376" y="5029200"/>
            <a:ext cx="344728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消融分析</a:t>
            </a:r>
            <a:endParaRPr lang="en-US" sz="840" dirty="0"/>
          </a:p>
        </p:txBody>
      </p:sp>
      <p:sp>
        <p:nvSpPr>
          <p:cNvPr id="49" name="Shape 47"/>
          <p:cNvSpPr/>
          <p:nvPr/>
        </p:nvSpPr>
        <p:spPr>
          <a:xfrm>
            <a:off x="4206240" y="4983480"/>
            <a:ext cx="3520440" cy="411480"/>
          </a:xfrm>
          <a:prstGeom prst="rect">
            <a:avLst/>
          </a:prstGeom>
          <a:solidFill>
            <a:srgbClr val="FAFC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242816" y="5029200"/>
            <a:ext cx="344728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特征 / 模型 / 排序 / 权重</a:t>
            </a:r>
            <a:endParaRPr lang="en-US" sz="840" dirty="0"/>
          </a:p>
        </p:txBody>
      </p:sp>
      <p:sp>
        <p:nvSpPr>
          <p:cNvPr id="51" name="Shape 49"/>
          <p:cNvSpPr/>
          <p:nvPr/>
        </p:nvSpPr>
        <p:spPr>
          <a:xfrm>
            <a:off x="7726680" y="4983480"/>
            <a:ext cx="3520440" cy="411480"/>
          </a:xfrm>
          <a:prstGeom prst="rect">
            <a:avLst/>
          </a:prstGeom>
          <a:solidFill>
            <a:srgbClr val="FAFC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763256" y="5029200"/>
            <a:ext cx="344728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定位有效模块与失败来源</a:t>
            </a:r>
            <a:endParaRPr lang="en-US" sz="840" dirty="0"/>
          </a:p>
        </p:txBody>
      </p:sp>
      <p:sp>
        <p:nvSpPr>
          <p:cNvPr id="53" name="Shape 51"/>
          <p:cNvSpPr/>
          <p:nvPr/>
        </p:nvSpPr>
        <p:spPr>
          <a:xfrm>
            <a:off x="850392" y="5733288"/>
            <a:ext cx="10012680" cy="365760"/>
          </a:xfrm>
          <a:prstGeom prst="roundRect">
            <a:avLst>
              <a:gd name="adj" fmla="val 15000"/>
            </a:avLst>
          </a:prstGeom>
          <a:solidFill>
            <a:srgbClr val="FFF9F1"/>
          </a:solidFill>
          <a:ln w="10160">
            <a:solidFill>
              <a:srgbClr val="D97706">
                <a:alpha val="3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68680" y="5779008"/>
            <a:ext cx="64008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05840" y="5843016"/>
            <a:ext cx="9692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关键原则：训练集、验证集与测试集严格按时间顺序切分，特征计算仅使用当前时点及历史信息。</a:t>
            </a:r>
            <a:endParaRPr lang="en-US" sz="10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336792"/>
            <a:ext cx="11064240" cy="0"/>
          </a:xfrm>
          <a:prstGeom prst="line">
            <a:avLst/>
          </a:prstGeom>
          <a:noFill/>
          <a:ln w="12700">
            <a:solidFill>
              <a:srgbClr val="D8E4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>
              <a:alpha val="95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84048"/>
            <a:ext cx="832104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总体技术路线：从研究链路到提交链路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658368" y="886968"/>
            <a:ext cx="81838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以Walk-forward验证防止未来信息泄漏，再将排序结果转化为满足约束的Top-K组合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8979408" y="438912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110 LAB · Research Presentation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11000232" y="640080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621792" y="640080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沪深300收益预测与组合推荐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121408" y="2395728"/>
            <a:ext cx="173736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776472" y="2395728"/>
            <a:ext cx="173736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431536" y="2395728"/>
            <a:ext cx="173736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086600" y="2395728"/>
            <a:ext cx="173736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741664" y="2395728"/>
            <a:ext cx="173736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0396728" y="2395728"/>
            <a:ext cx="173736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40080" y="1993392"/>
            <a:ext cx="1481328" cy="804672"/>
          </a:xfrm>
          <a:prstGeom prst="roundRect">
            <a:avLst>
              <a:gd name="adj" fmla="val 9091"/>
            </a:avLst>
          </a:prstGeom>
          <a:solidFill>
            <a:srgbClr val="F3F8FF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2103120"/>
            <a:ext cx="1335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行情/股票池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95144" y="1993392"/>
            <a:ext cx="1481328" cy="804672"/>
          </a:xfrm>
          <a:prstGeom prst="roundRect">
            <a:avLst>
              <a:gd name="adj" fmla="val 9091"/>
            </a:avLst>
          </a:prstGeom>
          <a:solidFill>
            <a:srgbClr val="F3F8FF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68296" y="2103120"/>
            <a:ext cx="1335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预处理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缺失·复权·切分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950208" y="1993392"/>
            <a:ext cx="1481328" cy="804672"/>
          </a:xfrm>
          <a:prstGeom prst="roundRect">
            <a:avLst>
              <a:gd name="adj" fmla="val 9091"/>
            </a:avLst>
          </a:prstGeom>
          <a:solidFill>
            <a:srgbClr val="F3F8FF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0" y="2103120"/>
            <a:ext cx="1335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特征工程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alpha / 风险 / 拥挤度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05272" y="1993392"/>
            <a:ext cx="1481328" cy="804672"/>
          </a:xfrm>
          <a:prstGeom prst="roundRect">
            <a:avLst>
              <a:gd name="adj" fmla="val 9091"/>
            </a:avLst>
          </a:prstGeom>
          <a:solidFill>
            <a:srgbClr val="FFF9F1"/>
          </a:solidFill>
          <a:ln w="1143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78424" y="2103120"/>
            <a:ext cx="1335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模型训练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LSTM / 树模型 / 基线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260336" y="1993392"/>
            <a:ext cx="1481328" cy="804672"/>
          </a:xfrm>
          <a:prstGeom prst="roundRect">
            <a:avLst>
              <a:gd name="adj" fmla="val 9091"/>
            </a:avLst>
          </a:prstGeom>
          <a:solidFill>
            <a:srgbClr val="FFF9F1"/>
          </a:solidFill>
          <a:ln w="1143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33488" y="2103120"/>
            <a:ext cx="1335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排序推荐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risk-adjusted Top-K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915400" y="1993392"/>
            <a:ext cx="1481328" cy="804672"/>
          </a:xfrm>
          <a:prstGeom prst="roundRect">
            <a:avLst>
              <a:gd name="adj" fmla="val 9091"/>
            </a:avLst>
          </a:prstGeom>
          <a:solidFill>
            <a:srgbClr val="F2FBF7"/>
          </a:solidFill>
          <a:ln w="11430">
            <a:solidFill>
              <a:srgbClr val="0EA5A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88552" y="2103120"/>
            <a:ext cx="1335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组合回测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成本·换手·回撤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570464" y="1993392"/>
            <a:ext cx="1481328" cy="804672"/>
          </a:xfrm>
          <a:prstGeom prst="roundRect">
            <a:avLst>
              <a:gd name="adj" fmla="val 9091"/>
            </a:avLst>
          </a:prstGeom>
          <a:solidFill>
            <a:srgbClr val="F2FBF7"/>
          </a:solidFill>
          <a:ln w="11430">
            <a:solidFill>
              <a:srgbClr val="0EA5A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43616" y="2103120"/>
            <a:ext cx="1335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冻结提交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result.csv / Docker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14400" y="3931920"/>
            <a:ext cx="297180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8890">
            <a:solidFill>
              <a:srgbClr val="D8E4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15568" y="416966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研究链路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15568" y="446227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run_research_pipeline.sh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15568" y="4773168"/>
            <a:ext cx="256032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生成模型对比、回测、诊断与图表证据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26280" y="3931920"/>
            <a:ext cx="2971800" cy="1261872"/>
          </a:xfrm>
          <a:prstGeom prst="roundRect">
            <a:avLst>
              <a:gd name="adj" fmla="val 4348"/>
            </a:avLst>
          </a:prstGeom>
          <a:solidFill>
            <a:srgbClr val="F3F8FF"/>
          </a:solidFill>
          <a:ln w="8890">
            <a:solidFill>
              <a:srgbClr val="CDE0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27448" y="416966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提交链路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727448" y="446227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EA5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run_submission.sh / freeze_submission.sh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27448" y="4773168"/>
            <a:ext cx="256032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同步aggressive提交变体，生成最终 result.csv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138160" y="3931920"/>
            <a:ext cx="297180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8890">
            <a:solidFill>
              <a:srgbClr val="D8E4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39328" y="416966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复现链路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339328" y="446227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Dockerfile / docker-compose / pytest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339328" y="4773168"/>
            <a:ext cx="256032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本地与Docker输出一致，26个测试通过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22960" y="5870448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设计要点：研究主线解释模型选择，提交变体解释最终结果；两者口径分离但产物一致。</a:t>
            </a:r>
            <a:endParaRPr lang="en-US" sz="109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336792"/>
            <a:ext cx="11064240" cy="0"/>
          </a:xfrm>
          <a:prstGeom prst="line">
            <a:avLst/>
          </a:prstGeom>
          <a:noFill/>
          <a:ln w="12700">
            <a:solidFill>
              <a:srgbClr val="D8E4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>
              <a:alpha val="95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84048"/>
            <a:ext cx="832104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特征工程与防泄漏设计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658368" y="886968"/>
            <a:ext cx="81838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用时间顺序、滚动窗口和特征预设机制控制实验边界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8979408" y="438912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110 LAB · Research Presentation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11000232" y="640080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621792" y="640080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沪深300收益预测与组合推荐</a:t>
            </a:r>
            <a:endParaRPr lang="en-US" sz="740" dirty="0"/>
          </a:p>
        </p:txBody>
      </p:sp>
      <p:sp>
        <p:nvSpPr>
          <p:cNvPr id="9" name="Text 7"/>
          <p:cNvSpPr/>
          <p:nvPr/>
        </p:nvSpPr>
        <p:spPr>
          <a:xfrm>
            <a:off x="685800" y="1325880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特征预设：base_alpha_v3_rs_crowding_mini4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77240" y="1874520"/>
            <a:ext cx="21031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8890">
            <a:solidFill>
              <a:srgbClr val="D8E4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02082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基础行情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232257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/ high / low / close / volume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3200400" y="1874520"/>
            <a:ext cx="2103120" cy="786384"/>
          </a:xfrm>
          <a:prstGeom prst="roundRect">
            <a:avLst>
              <a:gd name="adj" fmla="val 6977"/>
            </a:avLst>
          </a:prstGeom>
          <a:solidFill>
            <a:srgbClr val="F7FBFF"/>
          </a:solidFill>
          <a:ln w="8890">
            <a:solidFill>
              <a:srgbClr val="D8E4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202082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收益与动量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337560" y="232257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ret_lag / momentum / reversal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777240" y="3017520"/>
            <a:ext cx="21031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8890">
            <a:solidFill>
              <a:srgbClr val="D8E4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16382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风险波动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14400" y="346557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rolling vol / drawdown proxy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3200400" y="3017520"/>
            <a:ext cx="2103120" cy="786384"/>
          </a:xfrm>
          <a:prstGeom prst="roundRect">
            <a:avLst>
              <a:gd name="adj" fmla="val 6977"/>
            </a:avLst>
          </a:prstGeom>
          <a:solidFill>
            <a:srgbClr val="F7FBFF"/>
          </a:solidFill>
          <a:ln w="8890">
            <a:solidFill>
              <a:srgbClr val="D8E4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316382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流动性拥挤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337560" y="346557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turnover / crowding / volume change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5669280" y="1463040"/>
            <a:ext cx="5394960" cy="3611880"/>
          </a:xfrm>
          <a:prstGeom prst="roundRect">
            <a:avLst>
              <a:gd name="adj" fmla="val 1519"/>
            </a:avLst>
          </a:prstGeom>
          <a:solidFill>
            <a:srgbClr val="F3F8FF"/>
          </a:solidFill>
          <a:ln w="8890">
            <a:solidFill>
              <a:srgbClr val="CDE0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71032" y="171907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防止时间序列数据泄漏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5989320" y="2221992"/>
            <a:ext cx="452628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训练/验证/测试按时间先后划分，不随机打散</a:t>
            </a:r>
            <a:endParaRPr lang="en-US" sz="1220" dirty="0"/>
          </a:p>
          <a:p>
            <a:r>
              <a:rPr lang="en-US" sz="12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滚动窗口特征只依赖当前及历史数据</a:t>
            </a:r>
            <a:endParaRPr lang="en-US" sz="1220" dirty="0"/>
          </a:p>
          <a:p>
            <a:r>
              <a:rPr lang="en-US" sz="12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标准化、缺失填充、参数估计限定在训练窗口内</a:t>
            </a:r>
            <a:endParaRPr lang="en-US" sz="1220" dirty="0"/>
          </a:p>
          <a:p>
            <a:r>
              <a:rPr lang="en-US" sz="12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Walk-forward验证用于模拟真实预测流程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914400" y="5257800"/>
            <a:ext cx="9875520" cy="0"/>
          </a:xfrm>
          <a:prstGeom prst="line">
            <a:avLst/>
          </a:prstGeom>
          <a:noFill/>
          <a:ln w="17780">
            <a:solidFill>
              <a:srgbClr val="D8E4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5840" y="5074920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553212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历史窗口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840480" y="5074920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93008" y="553212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训练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675120" y="5074920"/>
            <a:ext cx="347472" cy="3474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27648" y="553212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509760" y="5074920"/>
            <a:ext cx="347472" cy="347472"/>
          </a:xfrm>
          <a:prstGeom prst="ellips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62288" y="553212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测试/提交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336792"/>
            <a:ext cx="11064240" cy="0"/>
          </a:xfrm>
          <a:prstGeom prst="line">
            <a:avLst/>
          </a:prstGeom>
          <a:noFill/>
          <a:ln w="12700">
            <a:solidFill>
              <a:srgbClr val="D8E4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>
              <a:alpha val="95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84048"/>
            <a:ext cx="832104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模型比较：为什么保留 LSTM sl20 作为默认主线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658368" y="886968"/>
            <a:ext cx="81838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同协议比较LSTM、树模型、线性模型与规则基线，优先选择排序与回测综合表现稳定的方案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8979408" y="438912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110 LAB · Research Presentation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11000232" y="640080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621792" y="640080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沪深300收益预测与组合推荐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868680" y="3758184"/>
            <a:ext cx="5074920" cy="0"/>
          </a:xfrm>
          <a:prstGeom prst="line">
            <a:avLst/>
          </a:prstGeom>
          <a:noFill/>
          <a:ln w="10160">
            <a:solidFill>
              <a:srgbClr val="D8E4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1737360"/>
            <a:ext cx="0" cy="2331720"/>
          </a:xfrm>
          <a:prstGeom prst="line">
            <a:avLst/>
          </a:prstGeom>
          <a:noFill/>
          <a:ln w="10160">
            <a:solidFill>
              <a:srgbClr val="D8E4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3544" y="1937888"/>
            <a:ext cx="817474" cy="1820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718432"/>
            <a:ext cx="92720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1.17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868680" y="4142232"/>
            <a:ext cx="9272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LSTM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1960474" y="3218779"/>
            <a:ext cx="817474" cy="539405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05610" y="2999323"/>
            <a:ext cx="92720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0.35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905610" y="4142232"/>
            <a:ext cx="9272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Momentum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2997403" y="3298058"/>
            <a:ext cx="817474" cy="46012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42539" y="3078602"/>
            <a:ext cx="92720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0.30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942539" y="4142232"/>
            <a:ext cx="9272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LightGBM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4034333" y="3543666"/>
            <a:ext cx="817474" cy="21451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79469" y="3324210"/>
            <a:ext cx="92720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0.14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979469" y="4142232"/>
            <a:ext cx="9272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XGBoost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5071262" y="3758184"/>
            <a:ext cx="817474" cy="652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16398" y="3538728"/>
            <a:ext cx="92720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-0.04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016398" y="4142232"/>
            <a:ext cx="9272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Linear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868680" y="1444752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回测累计收益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46520" y="1408176"/>
            <a:ext cx="950976" cy="541020"/>
          </a:xfrm>
          <a:prstGeom prst="rect">
            <a:avLst/>
          </a:prstGeom>
          <a:solidFill>
            <a:srgbClr val="EAF2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83096" y="1453896"/>
            <a:ext cx="877824" cy="4495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7397496" y="1408176"/>
            <a:ext cx="950976" cy="541020"/>
          </a:xfrm>
          <a:prstGeom prst="rect">
            <a:avLst/>
          </a:prstGeom>
          <a:solidFill>
            <a:srgbClr val="EAF2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34072" y="1453896"/>
            <a:ext cx="877824" cy="4495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RankIC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8348472" y="1408176"/>
            <a:ext cx="950976" cy="541020"/>
          </a:xfrm>
          <a:prstGeom prst="rect">
            <a:avLst/>
          </a:prstGeom>
          <a:solidFill>
            <a:srgbClr val="EAF2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85048" y="1453896"/>
            <a:ext cx="877824" cy="4495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Sharpe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9299448" y="1408176"/>
            <a:ext cx="950976" cy="541020"/>
          </a:xfrm>
          <a:prstGeom prst="rect">
            <a:avLst/>
          </a:prstGeom>
          <a:solidFill>
            <a:srgbClr val="EAF2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36024" y="1453896"/>
            <a:ext cx="877824" cy="4495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最大回撤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10250424" y="1408176"/>
            <a:ext cx="950976" cy="541020"/>
          </a:xfrm>
          <a:prstGeom prst="rect">
            <a:avLst/>
          </a:prstGeom>
          <a:solidFill>
            <a:srgbClr val="EAF2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287000" y="1453896"/>
            <a:ext cx="877824" cy="4495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446520" y="1949196"/>
            <a:ext cx="950976" cy="541020"/>
          </a:xfrm>
          <a:prstGeom prst="rect">
            <a:avLst/>
          </a:prstGeom>
          <a:solidFill>
            <a:srgbClr val="FFFF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83096" y="1994916"/>
            <a:ext cx="877824" cy="4495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LSTM sl20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7397496" y="1949196"/>
            <a:ext cx="950976" cy="541020"/>
          </a:xfrm>
          <a:prstGeom prst="rect">
            <a:avLst/>
          </a:prstGeom>
          <a:solidFill>
            <a:srgbClr val="FFFF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34072" y="1994916"/>
            <a:ext cx="877824" cy="4495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0.028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8348472" y="1949196"/>
            <a:ext cx="950976" cy="541020"/>
          </a:xfrm>
          <a:prstGeom prst="rect">
            <a:avLst/>
          </a:prstGeom>
          <a:solidFill>
            <a:srgbClr val="FFFF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85048" y="1994916"/>
            <a:ext cx="877824" cy="4495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4.02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9299448" y="1949196"/>
            <a:ext cx="950976" cy="541020"/>
          </a:xfrm>
          <a:prstGeom prst="rect">
            <a:avLst/>
          </a:prstGeom>
          <a:solidFill>
            <a:srgbClr val="FFFF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336024" y="1994916"/>
            <a:ext cx="877824" cy="4495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-9.0%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10250424" y="1949196"/>
            <a:ext cx="950976" cy="541020"/>
          </a:xfrm>
          <a:prstGeom prst="rect">
            <a:avLst/>
          </a:prstGeom>
          <a:solidFill>
            <a:srgbClr val="FFFF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287000" y="1994916"/>
            <a:ext cx="877824" cy="4495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正式主线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446520" y="2490216"/>
            <a:ext cx="950976" cy="541020"/>
          </a:xfrm>
          <a:prstGeom prst="rect">
            <a:avLst/>
          </a:prstGeom>
          <a:solidFill>
            <a:srgbClr val="FAFC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83096" y="2535936"/>
            <a:ext cx="877824" cy="4495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Momentum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7397496" y="2490216"/>
            <a:ext cx="950976" cy="541020"/>
          </a:xfrm>
          <a:prstGeom prst="rect">
            <a:avLst/>
          </a:prstGeom>
          <a:solidFill>
            <a:srgbClr val="FAFC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34072" y="2535936"/>
            <a:ext cx="877824" cy="4495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-0.009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8348472" y="2490216"/>
            <a:ext cx="950976" cy="541020"/>
          </a:xfrm>
          <a:prstGeom prst="rect">
            <a:avLst/>
          </a:prstGeom>
          <a:solidFill>
            <a:srgbClr val="FAFC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385048" y="2535936"/>
            <a:ext cx="877824" cy="4495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1.20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9299448" y="2490216"/>
            <a:ext cx="950976" cy="541020"/>
          </a:xfrm>
          <a:prstGeom prst="rect">
            <a:avLst/>
          </a:prstGeom>
          <a:solidFill>
            <a:srgbClr val="FAFC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336024" y="2535936"/>
            <a:ext cx="877824" cy="4495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-25.7%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10250424" y="2490216"/>
            <a:ext cx="950976" cy="541020"/>
          </a:xfrm>
          <a:prstGeom prst="rect">
            <a:avLst/>
          </a:prstGeom>
          <a:solidFill>
            <a:srgbClr val="FAFC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287000" y="2535936"/>
            <a:ext cx="877824" cy="4495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规则参照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446520" y="3031236"/>
            <a:ext cx="950976" cy="541020"/>
          </a:xfrm>
          <a:prstGeom prst="rect">
            <a:avLst/>
          </a:prstGeom>
          <a:solidFill>
            <a:srgbClr val="FFFF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83096" y="3076956"/>
            <a:ext cx="877824" cy="4495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LightGBM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7397496" y="3031236"/>
            <a:ext cx="950976" cy="541020"/>
          </a:xfrm>
          <a:prstGeom prst="rect">
            <a:avLst/>
          </a:prstGeom>
          <a:solidFill>
            <a:srgbClr val="FFFF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434072" y="3076956"/>
            <a:ext cx="877824" cy="4495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-0.027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8348472" y="3031236"/>
            <a:ext cx="950976" cy="541020"/>
          </a:xfrm>
          <a:prstGeom prst="rect">
            <a:avLst/>
          </a:prstGeom>
          <a:solidFill>
            <a:srgbClr val="FFFF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385048" y="3076956"/>
            <a:ext cx="877824" cy="4495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1.71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9299448" y="3031236"/>
            <a:ext cx="950976" cy="541020"/>
          </a:xfrm>
          <a:prstGeom prst="rect">
            <a:avLst/>
          </a:prstGeom>
          <a:solidFill>
            <a:srgbClr val="FFFF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336024" y="3076956"/>
            <a:ext cx="877824" cy="4495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-11.3%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10250424" y="3031236"/>
            <a:ext cx="950976" cy="541020"/>
          </a:xfrm>
          <a:prstGeom prst="rect">
            <a:avLst/>
          </a:prstGeom>
          <a:solidFill>
            <a:srgbClr val="FFFF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287000" y="3076956"/>
            <a:ext cx="877824" cy="4495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基线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6446520" y="3572256"/>
            <a:ext cx="950976" cy="541020"/>
          </a:xfrm>
          <a:prstGeom prst="rect">
            <a:avLst/>
          </a:prstGeom>
          <a:solidFill>
            <a:srgbClr val="FAFC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483096" y="3617976"/>
            <a:ext cx="877824" cy="4495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XGBoost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7397496" y="3572256"/>
            <a:ext cx="950976" cy="541020"/>
          </a:xfrm>
          <a:prstGeom prst="rect">
            <a:avLst/>
          </a:prstGeom>
          <a:solidFill>
            <a:srgbClr val="FAFC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434072" y="3617976"/>
            <a:ext cx="877824" cy="4495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-0.030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8348472" y="3572256"/>
            <a:ext cx="950976" cy="541020"/>
          </a:xfrm>
          <a:prstGeom prst="rect">
            <a:avLst/>
          </a:prstGeom>
          <a:solidFill>
            <a:srgbClr val="FAFC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385048" y="3617976"/>
            <a:ext cx="877824" cy="4495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1.05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9299448" y="3572256"/>
            <a:ext cx="950976" cy="541020"/>
          </a:xfrm>
          <a:prstGeom prst="rect">
            <a:avLst/>
          </a:prstGeom>
          <a:solidFill>
            <a:srgbClr val="FAFC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336024" y="3617976"/>
            <a:ext cx="877824" cy="4495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-9.7%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10250424" y="3572256"/>
            <a:ext cx="950976" cy="541020"/>
          </a:xfrm>
          <a:prstGeom prst="rect">
            <a:avLst/>
          </a:prstGeom>
          <a:solidFill>
            <a:srgbClr val="FAFC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287000" y="3617976"/>
            <a:ext cx="877824" cy="4495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基线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6446520" y="4113276"/>
            <a:ext cx="950976" cy="541020"/>
          </a:xfrm>
          <a:prstGeom prst="rect">
            <a:avLst/>
          </a:prstGeom>
          <a:solidFill>
            <a:srgbClr val="FFFF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483096" y="4158996"/>
            <a:ext cx="877824" cy="4495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Linear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7397496" y="4113276"/>
            <a:ext cx="950976" cy="541020"/>
          </a:xfrm>
          <a:prstGeom prst="rect">
            <a:avLst/>
          </a:prstGeom>
          <a:solidFill>
            <a:srgbClr val="FFFF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434072" y="4158996"/>
            <a:ext cx="877824" cy="4495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-0.029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8348472" y="4113276"/>
            <a:ext cx="950976" cy="541020"/>
          </a:xfrm>
          <a:prstGeom prst="rect">
            <a:avLst/>
          </a:prstGeom>
          <a:solidFill>
            <a:srgbClr val="FFFF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385048" y="4158996"/>
            <a:ext cx="877824" cy="4495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-0.14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9299448" y="4113276"/>
            <a:ext cx="950976" cy="541020"/>
          </a:xfrm>
          <a:prstGeom prst="rect">
            <a:avLst/>
          </a:prstGeom>
          <a:solidFill>
            <a:srgbClr val="FFFF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336024" y="4158996"/>
            <a:ext cx="877824" cy="4495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-18.6%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10250424" y="4113276"/>
            <a:ext cx="950976" cy="541020"/>
          </a:xfrm>
          <a:prstGeom prst="rect">
            <a:avLst/>
          </a:prstGeom>
          <a:solidFill>
            <a:srgbClr val="FFFF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0287000" y="4158996"/>
            <a:ext cx="877824" cy="4495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线性下界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685800" y="5212080"/>
            <a:ext cx="1280160" cy="841248"/>
          </a:xfrm>
          <a:prstGeom prst="roundRect">
            <a:avLst>
              <a:gd name="adj" fmla="val 6522"/>
            </a:avLst>
          </a:prstGeom>
          <a:solidFill>
            <a:srgbClr val="F8FBFF"/>
          </a:solidFill>
          <a:ln w="10160">
            <a:solidFill>
              <a:srgbClr val="2563EB">
                <a:alpha val="28000"/>
              </a:srgbClr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22960" y="534009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</a:t>
            </a:r>
            <a:endParaRPr lang="en-US" sz="2250" dirty="0"/>
          </a:p>
        </p:txBody>
      </p:sp>
      <p:sp>
        <p:nvSpPr>
          <p:cNvPr id="89" name="Text 87"/>
          <p:cNvSpPr/>
          <p:nvPr/>
        </p:nvSpPr>
        <p:spPr>
          <a:xfrm>
            <a:off x="822960" y="572414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序列长度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2148840" y="5212080"/>
            <a:ext cx="1280160" cy="841248"/>
          </a:xfrm>
          <a:prstGeom prst="roundRect">
            <a:avLst>
              <a:gd name="adj" fmla="val 6522"/>
            </a:avLst>
          </a:prstGeom>
          <a:solidFill>
            <a:srgbClr val="FFFBF5"/>
          </a:solidFill>
          <a:ln w="10160">
            <a:solidFill>
              <a:srgbClr val="D97706">
                <a:alpha val="28000"/>
              </a:srgbClr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286000" y="534009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D9770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Top-5</a:t>
            </a:r>
            <a:endParaRPr lang="en-US" sz="2250" dirty="0"/>
          </a:p>
        </p:txBody>
      </p:sp>
      <p:sp>
        <p:nvSpPr>
          <p:cNvPr id="92" name="Text 90"/>
          <p:cNvSpPr/>
          <p:nvPr/>
        </p:nvSpPr>
        <p:spPr>
          <a:xfrm>
            <a:off x="2286000" y="572414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组合规模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3611880" y="5212080"/>
            <a:ext cx="1280160" cy="841248"/>
          </a:xfrm>
          <a:prstGeom prst="roundRect">
            <a:avLst>
              <a:gd name="adj" fmla="val 6522"/>
            </a:avLst>
          </a:prstGeom>
          <a:solidFill>
            <a:srgbClr val="F5FCFB"/>
          </a:solidFill>
          <a:ln w="10160">
            <a:solidFill>
              <a:srgbClr val="0EA5A4">
                <a:alpha val="28000"/>
              </a:srgbClr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749040" y="534009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0EA5A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</a:t>
            </a:r>
            <a:endParaRPr lang="en-US" sz="2250" dirty="0"/>
          </a:p>
        </p:txBody>
      </p:sp>
      <p:sp>
        <p:nvSpPr>
          <p:cNvPr id="95" name="Text 93"/>
          <p:cNvSpPr/>
          <p:nvPr/>
        </p:nvSpPr>
        <p:spPr>
          <a:xfrm>
            <a:off x="3749040" y="572414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排序策略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5257800" y="5029200"/>
            <a:ext cx="58978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8890">
            <a:solidFill>
              <a:srgbClr val="D8E4F2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440680" y="5294376"/>
            <a:ext cx="55321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解释：LSTM sl20在排序能力、Top-K收益、成本后回测与复现链路上综合最稳，因此作为包内默认模型；树模型与规则模型保留为对照。</a:t>
            </a:r>
            <a:endParaRPr lang="en-US" sz="10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336792"/>
            <a:ext cx="11064240" cy="0"/>
          </a:xfrm>
          <a:prstGeom prst="line">
            <a:avLst/>
          </a:prstGeom>
          <a:noFill/>
          <a:ln w="12700">
            <a:solidFill>
              <a:srgbClr val="D8E4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>
              <a:alpha val="95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84048"/>
            <a:ext cx="832104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组合回测：收益、风险与交易成本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658368" y="886968"/>
            <a:ext cx="81838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从排序结果到组合权重，比较不同风险约束与权重策略的成本后表现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8979408" y="438912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110 LAB · Research Presentation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11000232" y="640080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621792" y="640080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沪深300收益预测与组合推荐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868680" y="3822192"/>
            <a:ext cx="4526280" cy="0"/>
          </a:xfrm>
          <a:prstGeom prst="line">
            <a:avLst/>
          </a:prstGeom>
          <a:noFill/>
          <a:ln w="10160">
            <a:solidFill>
              <a:srgbClr val="D8E4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1719072"/>
            <a:ext cx="0" cy="2103120"/>
          </a:xfrm>
          <a:prstGeom prst="line">
            <a:avLst/>
          </a:prstGeom>
          <a:noFill/>
          <a:ln w="10160">
            <a:solidFill>
              <a:srgbClr val="D8E4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3544" y="2076602"/>
            <a:ext cx="707746" cy="174559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857146"/>
            <a:ext cx="8174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6.6%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868680" y="3895344"/>
            <a:ext cx="8174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default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1850746" y="2762745"/>
            <a:ext cx="707746" cy="1059447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95882" y="2543289"/>
            <a:ext cx="8174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4.0%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795882" y="3895344"/>
            <a:ext cx="8174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stricter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2777947" y="2076602"/>
            <a:ext cx="707746" cy="174559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23083" y="1857146"/>
            <a:ext cx="8174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6.6%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723083" y="3895344"/>
            <a:ext cx="8174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equal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3705149" y="2063458"/>
            <a:ext cx="707746" cy="175873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0285" y="1844002"/>
            <a:ext cx="8174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6.7%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650285" y="3895344"/>
            <a:ext cx="8174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pred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4632350" y="1950415"/>
            <a:ext cx="707746" cy="1871777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7486" y="1730959"/>
            <a:ext cx="8174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7.1%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577486" y="3895344"/>
            <a:ext cx="8174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low-turn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868680" y="1426464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成本后累计收益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55080" y="3822192"/>
            <a:ext cx="4343400" cy="0"/>
          </a:xfrm>
          <a:prstGeom prst="line">
            <a:avLst/>
          </a:prstGeom>
          <a:noFill/>
          <a:ln w="10160">
            <a:solidFill>
              <a:srgbClr val="D8E4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55080" y="1719072"/>
            <a:ext cx="0" cy="2103120"/>
          </a:xfrm>
          <a:prstGeom prst="line">
            <a:avLst/>
          </a:prstGeom>
          <a:noFill/>
          <a:ln w="10160">
            <a:solidFill>
              <a:srgbClr val="D8E4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9944" y="2776641"/>
            <a:ext cx="671170" cy="1045551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2557185"/>
            <a:ext cx="78089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EA5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0.70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355080" y="3895344"/>
            <a:ext cx="7808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default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7300570" y="3188252"/>
            <a:ext cx="671170" cy="63394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45706" y="2968796"/>
            <a:ext cx="78089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EA5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0.42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7245706" y="3895344"/>
            <a:ext cx="7808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stricter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8191195" y="2796170"/>
            <a:ext cx="671170" cy="1026022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36331" y="2576714"/>
            <a:ext cx="78089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EA5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0.68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8136331" y="3895344"/>
            <a:ext cx="7808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equal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9081821" y="2791663"/>
            <a:ext cx="671170" cy="1030529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26957" y="2572207"/>
            <a:ext cx="78089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EA5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0.69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9026957" y="3895344"/>
            <a:ext cx="7808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pred</a:t>
            </a:r>
            <a:endParaRPr lang="en-US" sz="720" dirty="0"/>
          </a:p>
        </p:txBody>
      </p:sp>
      <p:sp>
        <p:nvSpPr>
          <p:cNvPr id="41" name="Shape 39"/>
          <p:cNvSpPr/>
          <p:nvPr/>
        </p:nvSpPr>
        <p:spPr>
          <a:xfrm>
            <a:off x="9972446" y="1948913"/>
            <a:ext cx="671170" cy="1873279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917582" y="1729457"/>
            <a:ext cx="78089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EA5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1.25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9917582" y="3895344"/>
            <a:ext cx="7808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low-turn</a:t>
            </a:r>
            <a:endParaRPr lang="en-US" sz="720" dirty="0"/>
          </a:p>
        </p:txBody>
      </p:sp>
      <p:sp>
        <p:nvSpPr>
          <p:cNvPr id="44" name="Text 42"/>
          <p:cNvSpPr/>
          <p:nvPr/>
        </p:nvSpPr>
        <p:spPr>
          <a:xfrm>
            <a:off x="6355080" y="1426464"/>
            <a:ext cx="434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成本后Sharpe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914400" y="4754880"/>
            <a:ext cx="1234440" cy="278892"/>
          </a:xfrm>
          <a:prstGeom prst="rect">
            <a:avLst/>
          </a:prstGeom>
          <a:solidFill>
            <a:srgbClr val="EAF2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50976" y="4800600"/>
            <a:ext cx="1161288" cy="1874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策略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148840" y="4754880"/>
            <a:ext cx="1234440" cy="278892"/>
          </a:xfrm>
          <a:prstGeom prst="rect">
            <a:avLst/>
          </a:prstGeom>
          <a:solidFill>
            <a:srgbClr val="EAF2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185416" y="4800600"/>
            <a:ext cx="1161288" cy="1874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成本后收益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383280" y="4754880"/>
            <a:ext cx="1234440" cy="278892"/>
          </a:xfrm>
          <a:prstGeom prst="rect">
            <a:avLst/>
          </a:prstGeom>
          <a:solidFill>
            <a:srgbClr val="EAF2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19856" y="4800600"/>
            <a:ext cx="1161288" cy="1874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最大回撤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617720" y="4754880"/>
            <a:ext cx="1234440" cy="278892"/>
          </a:xfrm>
          <a:prstGeom prst="rect">
            <a:avLst/>
          </a:prstGeom>
          <a:solidFill>
            <a:srgbClr val="EAF2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54296" y="4800600"/>
            <a:ext cx="1161288" cy="1874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平均换手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914400" y="5033772"/>
            <a:ext cx="1234440" cy="278892"/>
          </a:xfrm>
          <a:prstGeom prst="rect">
            <a:avLst/>
          </a:prstGeom>
          <a:solidFill>
            <a:srgbClr val="FFFF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50976" y="5079492"/>
            <a:ext cx="1161288" cy="1874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default risk-adjusted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148840" y="5033772"/>
            <a:ext cx="1234440" cy="278892"/>
          </a:xfrm>
          <a:prstGeom prst="rect">
            <a:avLst/>
          </a:prstGeom>
          <a:solidFill>
            <a:srgbClr val="FFFF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185416" y="5079492"/>
            <a:ext cx="1161288" cy="1874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6.64%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383280" y="5033772"/>
            <a:ext cx="1234440" cy="278892"/>
          </a:xfrm>
          <a:prstGeom prst="rect">
            <a:avLst/>
          </a:prstGeom>
          <a:solidFill>
            <a:srgbClr val="FFFF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419856" y="5079492"/>
            <a:ext cx="1161288" cy="1874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-6.41%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617720" y="5033772"/>
            <a:ext cx="1234440" cy="278892"/>
          </a:xfrm>
          <a:prstGeom prst="rect">
            <a:avLst/>
          </a:prstGeom>
          <a:solidFill>
            <a:srgbClr val="FFFF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654296" y="5079492"/>
            <a:ext cx="1161288" cy="1874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0.994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914400" y="5312664"/>
            <a:ext cx="1234440" cy="278892"/>
          </a:xfrm>
          <a:prstGeom prst="rect">
            <a:avLst/>
          </a:prstGeom>
          <a:solidFill>
            <a:srgbClr val="FAFC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50976" y="5358384"/>
            <a:ext cx="1161288" cy="1874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pred weight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2148840" y="5312664"/>
            <a:ext cx="1234440" cy="278892"/>
          </a:xfrm>
          <a:prstGeom prst="rect">
            <a:avLst/>
          </a:prstGeom>
          <a:solidFill>
            <a:srgbClr val="FAFC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185416" y="5358384"/>
            <a:ext cx="1161288" cy="1874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6.69%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3383280" y="5312664"/>
            <a:ext cx="1234440" cy="278892"/>
          </a:xfrm>
          <a:prstGeom prst="rect">
            <a:avLst/>
          </a:prstGeom>
          <a:solidFill>
            <a:srgbClr val="FAFC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419856" y="5358384"/>
            <a:ext cx="1161288" cy="1874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-6.72%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4617720" y="5312664"/>
            <a:ext cx="1234440" cy="278892"/>
          </a:xfrm>
          <a:prstGeom prst="rect">
            <a:avLst/>
          </a:prstGeom>
          <a:solidFill>
            <a:srgbClr val="FAFC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654296" y="5358384"/>
            <a:ext cx="1161288" cy="1874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0.993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914400" y="5591556"/>
            <a:ext cx="1234440" cy="278892"/>
          </a:xfrm>
          <a:prstGeom prst="rect">
            <a:avLst/>
          </a:prstGeom>
          <a:solidFill>
            <a:srgbClr val="FFFF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50976" y="5637276"/>
            <a:ext cx="1161288" cy="1874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low-turnover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2148840" y="5591556"/>
            <a:ext cx="1234440" cy="278892"/>
          </a:xfrm>
          <a:prstGeom prst="rect">
            <a:avLst/>
          </a:prstGeom>
          <a:solidFill>
            <a:srgbClr val="FFFF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185416" y="5637276"/>
            <a:ext cx="1161288" cy="1874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7.12%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3383280" y="5591556"/>
            <a:ext cx="1234440" cy="278892"/>
          </a:xfrm>
          <a:prstGeom prst="rect">
            <a:avLst/>
          </a:prstGeom>
          <a:solidFill>
            <a:srgbClr val="FFFF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419856" y="5637276"/>
            <a:ext cx="1161288" cy="1874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-3.03%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4617720" y="5591556"/>
            <a:ext cx="1234440" cy="278892"/>
          </a:xfrm>
          <a:prstGeom prst="rect">
            <a:avLst/>
          </a:prstGeom>
          <a:solidFill>
            <a:srgbClr val="FFFF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654296" y="5637276"/>
            <a:ext cx="1161288" cy="1874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0.500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6263640" y="4590288"/>
            <a:ext cx="45262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D8E4F2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400800" y="4736592"/>
            <a:ext cx="425196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0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低换手约束在样本中提升Sharpe并降低回撤</a:t>
            </a:r>
            <a:endParaRPr lang="en-US" sz="1050" dirty="0"/>
          </a:p>
          <a:p>
            <a:r>
              <a:rPr lang="en-US" sz="10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交易成本显著影响真实组合收益，不能只看理想收益曲线</a:t>
            </a:r>
            <a:endParaRPr lang="en-US" sz="1050" dirty="0"/>
          </a:p>
          <a:p>
            <a:r>
              <a:rPr lang="en-US" sz="10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默认提交仍优先保证推理链路与竞赛结果同步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336792"/>
            <a:ext cx="11064240" cy="0"/>
          </a:xfrm>
          <a:prstGeom prst="line">
            <a:avLst/>
          </a:prstGeom>
          <a:noFill/>
          <a:ln w="12700">
            <a:solidFill>
              <a:srgbClr val="D8E4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>
              <a:alpha val="95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84048"/>
            <a:ext cx="832104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最终提交结果：aggressive 满仓变体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658368" y="886968"/>
            <a:ext cx="81838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模型层解释为LSTM sl20默认主线，提交层使用aggressive_score_submission同步最终result.csv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8979408" y="438912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110 LAB · Research Presentation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11000232" y="640080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621792" y="640080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沪深300收益预测与组合推荐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777240" y="1389888"/>
            <a:ext cx="1280160" cy="655320"/>
          </a:xfrm>
          <a:prstGeom prst="rect">
            <a:avLst/>
          </a:prstGeom>
          <a:solidFill>
            <a:srgbClr val="EAF2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" y="1435608"/>
            <a:ext cx="1207008" cy="563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rank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57400" y="1389888"/>
            <a:ext cx="1280160" cy="655320"/>
          </a:xfrm>
          <a:prstGeom prst="rect">
            <a:avLst/>
          </a:prstGeom>
          <a:solidFill>
            <a:srgbClr val="EAF2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93976" y="1435608"/>
            <a:ext cx="1207008" cy="563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stock_id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37560" y="1389888"/>
            <a:ext cx="1280160" cy="655320"/>
          </a:xfrm>
          <a:prstGeom prst="rect">
            <a:avLst/>
          </a:prstGeom>
          <a:solidFill>
            <a:srgbClr val="EAF2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74136" y="1435608"/>
            <a:ext cx="1207008" cy="563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weight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2045208"/>
            <a:ext cx="1280160" cy="655320"/>
          </a:xfrm>
          <a:prstGeom prst="rect">
            <a:avLst/>
          </a:prstGeom>
          <a:solidFill>
            <a:srgbClr val="FFFF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" y="2090928"/>
            <a:ext cx="1207008" cy="563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057400" y="2045208"/>
            <a:ext cx="1280160" cy="655320"/>
          </a:xfrm>
          <a:prstGeom prst="rect">
            <a:avLst/>
          </a:prstGeom>
          <a:solidFill>
            <a:srgbClr val="FFFF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93976" y="2090928"/>
            <a:ext cx="1207008" cy="563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000792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37560" y="2045208"/>
            <a:ext cx="1280160" cy="655320"/>
          </a:xfrm>
          <a:prstGeom prst="rect">
            <a:avLst/>
          </a:prstGeom>
          <a:solidFill>
            <a:srgbClr val="FFFF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74136" y="2090928"/>
            <a:ext cx="1207008" cy="563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0.2000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" y="2700528"/>
            <a:ext cx="1280160" cy="655320"/>
          </a:xfrm>
          <a:prstGeom prst="rect">
            <a:avLst/>
          </a:prstGeom>
          <a:solidFill>
            <a:srgbClr val="FAFC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3816" y="2746248"/>
            <a:ext cx="1207008" cy="563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057400" y="2700528"/>
            <a:ext cx="1280160" cy="655320"/>
          </a:xfrm>
          <a:prstGeom prst="rect">
            <a:avLst/>
          </a:prstGeom>
          <a:solidFill>
            <a:srgbClr val="FAFC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93976" y="2746248"/>
            <a:ext cx="1207008" cy="563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600233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37560" y="2700528"/>
            <a:ext cx="1280160" cy="655320"/>
          </a:xfrm>
          <a:prstGeom prst="rect">
            <a:avLst/>
          </a:prstGeom>
          <a:solidFill>
            <a:srgbClr val="FAFC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74136" y="2746248"/>
            <a:ext cx="1207008" cy="563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0.2000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77240" y="3355848"/>
            <a:ext cx="1280160" cy="655320"/>
          </a:xfrm>
          <a:prstGeom prst="rect">
            <a:avLst/>
          </a:prstGeom>
          <a:solidFill>
            <a:srgbClr val="FFFF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3816" y="3401568"/>
            <a:ext cx="1207008" cy="563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057400" y="3355848"/>
            <a:ext cx="1280160" cy="655320"/>
          </a:xfrm>
          <a:prstGeom prst="rect">
            <a:avLst/>
          </a:prstGeom>
          <a:solidFill>
            <a:srgbClr val="FFFF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93976" y="3401568"/>
            <a:ext cx="1207008" cy="563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601669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337560" y="3355848"/>
            <a:ext cx="1280160" cy="655320"/>
          </a:xfrm>
          <a:prstGeom prst="rect">
            <a:avLst/>
          </a:prstGeom>
          <a:solidFill>
            <a:srgbClr val="FFFF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74136" y="3401568"/>
            <a:ext cx="1207008" cy="563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0.2000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77240" y="4011168"/>
            <a:ext cx="1280160" cy="655320"/>
          </a:xfrm>
          <a:prstGeom prst="rect">
            <a:avLst/>
          </a:prstGeom>
          <a:solidFill>
            <a:srgbClr val="FAFC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3816" y="4056888"/>
            <a:ext cx="1207008" cy="563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057400" y="4011168"/>
            <a:ext cx="1280160" cy="655320"/>
          </a:xfrm>
          <a:prstGeom prst="rect">
            <a:avLst/>
          </a:prstGeom>
          <a:solidFill>
            <a:srgbClr val="FAFC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93976" y="4056888"/>
            <a:ext cx="1207008" cy="563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600930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337560" y="4011168"/>
            <a:ext cx="1280160" cy="655320"/>
          </a:xfrm>
          <a:prstGeom prst="rect">
            <a:avLst/>
          </a:prstGeom>
          <a:solidFill>
            <a:srgbClr val="FAFC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74136" y="4056888"/>
            <a:ext cx="1207008" cy="563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0.2000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77240" y="4666488"/>
            <a:ext cx="1280160" cy="655320"/>
          </a:xfrm>
          <a:prstGeom prst="rect">
            <a:avLst/>
          </a:prstGeom>
          <a:solidFill>
            <a:srgbClr val="FFFF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3816" y="4712208"/>
            <a:ext cx="1207008" cy="563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057400" y="4666488"/>
            <a:ext cx="1280160" cy="655320"/>
          </a:xfrm>
          <a:prstGeom prst="rect">
            <a:avLst/>
          </a:prstGeom>
          <a:solidFill>
            <a:srgbClr val="FFFF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93976" y="4712208"/>
            <a:ext cx="1207008" cy="563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002463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337560" y="4666488"/>
            <a:ext cx="1280160" cy="655320"/>
          </a:xfrm>
          <a:prstGeom prst="rect">
            <a:avLst/>
          </a:prstGeom>
          <a:solidFill>
            <a:srgbClr val="FFFF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74136" y="4712208"/>
            <a:ext cx="1207008" cy="563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0.2000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120640" y="1481328"/>
            <a:ext cx="1828800" cy="841248"/>
          </a:xfrm>
          <a:prstGeom prst="roundRect">
            <a:avLst>
              <a:gd name="adj" fmla="val 6522"/>
            </a:avLst>
          </a:prstGeom>
          <a:solidFill>
            <a:srgbClr val="F8FBFF"/>
          </a:solidFill>
          <a:ln w="10160">
            <a:solidFill>
              <a:srgbClr val="2563EB">
                <a:alpha val="28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57800" y="160934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1.000000</a:t>
            </a:r>
            <a:endParaRPr lang="en-US" sz="2250" dirty="0"/>
          </a:p>
        </p:txBody>
      </p:sp>
      <p:sp>
        <p:nvSpPr>
          <p:cNvPr id="47" name="Text 45"/>
          <p:cNvSpPr/>
          <p:nvPr/>
        </p:nvSpPr>
        <p:spPr>
          <a:xfrm>
            <a:off x="5257800" y="199339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权重和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7315200" y="1481328"/>
            <a:ext cx="2057400" cy="841248"/>
          </a:xfrm>
          <a:prstGeom prst="roundRect">
            <a:avLst>
              <a:gd name="adj" fmla="val 6522"/>
            </a:avLst>
          </a:prstGeom>
          <a:solidFill>
            <a:srgbClr val="F5FCFB"/>
          </a:solidFill>
          <a:ln w="10160">
            <a:solidFill>
              <a:srgbClr val="059669">
                <a:alpha val="28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52360" y="160934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0596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0.077484</a:t>
            </a:r>
            <a:endParaRPr lang="en-US" sz="2250" dirty="0"/>
          </a:p>
        </p:txBody>
      </p:sp>
      <p:sp>
        <p:nvSpPr>
          <p:cNvPr id="50" name="Text 48"/>
          <p:cNvSpPr/>
          <p:nvPr/>
        </p:nvSpPr>
        <p:spPr>
          <a:xfrm>
            <a:off x="7452360" y="199339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可见 case-slice score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9738360" y="1481328"/>
            <a:ext cx="1691640" cy="841248"/>
          </a:xfrm>
          <a:prstGeom prst="roundRect">
            <a:avLst>
              <a:gd name="adj" fmla="val 6522"/>
            </a:avLst>
          </a:prstGeom>
          <a:solidFill>
            <a:srgbClr val="FFFBF5"/>
          </a:solidFill>
          <a:ln w="10160">
            <a:solidFill>
              <a:srgbClr val="D97706">
                <a:alpha val="28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875520" y="1609344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D9770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26 passed</a:t>
            </a:r>
            <a:endParaRPr lang="en-US" sz="2250" dirty="0"/>
          </a:p>
        </p:txBody>
      </p:sp>
      <p:sp>
        <p:nvSpPr>
          <p:cNvPr id="53" name="Text 51"/>
          <p:cNvSpPr/>
          <p:nvPr/>
        </p:nvSpPr>
        <p:spPr>
          <a:xfrm>
            <a:off x="9875520" y="199339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自动化测试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074920" y="2770632"/>
            <a:ext cx="635508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8890">
            <a:solidFill>
              <a:srgbClr val="D8E4F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321808" y="303580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提交文件与口径</a:t>
            </a:r>
            <a:endParaRPr lang="en-US" sz="1700" dirty="0"/>
          </a:p>
        </p:txBody>
      </p:sp>
      <p:sp>
        <p:nvSpPr>
          <p:cNvPr id="56" name="Text 54"/>
          <p:cNvSpPr/>
          <p:nvPr/>
        </p:nvSpPr>
        <p:spPr>
          <a:xfrm>
            <a:off x="5321808" y="3456432"/>
            <a:ext cx="53492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1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正式文件：app/output/result.csv</a:t>
            </a:r>
            <a:endParaRPr lang="en-US" sz="1150" dirty="0"/>
          </a:p>
          <a:p>
            <a:r>
              <a:rPr lang="en-US" sz="11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提交变体：aggressive_score_submission</a:t>
            </a:r>
            <a:endParaRPr lang="en-US" sz="1150" dirty="0"/>
          </a:p>
          <a:p>
            <a:r>
              <a:rPr lang="en-US" sz="11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模型主线：LSTM sl20 + risk_adjusted + pred</a:t>
            </a:r>
            <a:endParaRPr lang="en-US" sz="1150" dirty="0"/>
          </a:p>
          <a:p>
            <a:r>
              <a:rPr lang="en-US" sz="11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本地/Docker结果MD5一致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822960" y="5806440"/>
            <a:ext cx="102412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注意：aggressive提交结果不是“新训练模型”，而是为了最终提交效果而同步的满仓候选结果；LSTM主线负责解释模型选择依据。</a:t>
            </a:r>
            <a:endParaRPr lang="en-US" sz="10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336792"/>
            <a:ext cx="11064240" cy="0"/>
          </a:xfrm>
          <a:prstGeom prst="line">
            <a:avLst/>
          </a:prstGeom>
          <a:noFill/>
          <a:ln w="12700">
            <a:solidFill>
              <a:srgbClr val="D8E4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>
              <a:alpha val="95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84048"/>
            <a:ext cx="832104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工程化交付与可复现性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658368" y="886968"/>
            <a:ext cx="81838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从研究实验到正式提交，使用脚本入口、测试与容器彩排保证可复现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8979408" y="438912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110 LAB · Research Presentation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11000232" y="640080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621792" y="640080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沪深300收益预测与组合推荐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685800" y="1325880"/>
            <a:ext cx="4114800" cy="475488"/>
          </a:xfrm>
          <a:prstGeom prst="roundRect">
            <a:avLst>
              <a:gd name="adj" fmla="val 11538"/>
            </a:avLst>
          </a:prstGeom>
          <a:solidFill>
            <a:srgbClr val="F8FBFF"/>
          </a:solidFill>
          <a:ln w="8890">
            <a:solidFill>
              <a:srgbClr val="D8E4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472184"/>
            <a:ext cx="1417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app/code/src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423160" y="1463040"/>
            <a:ext cx="2057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核心训练、推理、回测、校验工具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85800" y="2039112"/>
            <a:ext cx="41148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8890">
            <a:solidFill>
              <a:srgbClr val="D8E4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185416"/>
            <a:ext cx="1417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app/model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423160" y="2176272"/>
            <a:ext cx="2057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模型、配置、实验结果、冻结证据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85800" y="2752344"/>
            <a:ext cx="4114800" cy="475488"/>
          </a:xfrm>
          <a:prstGeom prst="roundRect">
            <a:avLst>
              <a:gd name="adj" fmla="val 11538"/>
            </a:avLst>
          </a:prstGeom>
          <a:solidFill>
            <a:srgbClr val="F8FBFF"/>
          </a:solidFill>
          <a:ln w="8890">
            <a:solidFill>
              <a:srgbClr val="D8E4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898648"/>
            <a:ext cx="1417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app/output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423160" y="2889504"/>
            <a:ext cx="2057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当前正式 result.csv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85800" y="3465576"/>
            <a:ext cx="41148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8890">
            <a:solidFill>
              <a:srgbClr val="D8E4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611880"/>
            <a:ext cx="1417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app/docs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423160" y="3602736"/>
            <a:ext cx="2057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结题、答辩、Demo与复现材料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85800" y="4178808"/>
            <a:ext cx="4114800" cy="475488"/>
          </a:xfrm>
          <a:prstGeom prst="roundRect">
            <a:avLst>
              <a:gd name="adj" fmla="val 11538"/>
            </a:avLst>
          </a:prstGeom>
          <a:solidFill>
            <a:srgbClr val="F8FBFF"/>
          </a:solidFill>
          <a:ln w="8890">
            <a:solidFill>
              <a:srgbClr val="D8E4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325112"/>
            <a:ext cx="1417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/ CI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423160" y="4315968"/>
            <a:ext cx="2057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回归测试与质量检查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86400" y="1325880"/>
            <a:ext cx="5257800" cy="2148840"/>
          </a:xfrm>
          <a:prstGeom prst="roundRect">
            <a:avLst>
              <a:gd name="adj" fmla="val 2553"/>
            </a:avLst>
          </a:prstGeom>
          <a:solidFill>
            <a:srgbClr val="F3F8FF"/>
          </a:solidFill>
          <a:ln w="8890">
            <a:solidFill>
              <a:srgbClr val="CDE0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06440" y="1600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B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Docker Consistency Check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806440" y="2167128"/>
            <a:ext cx="16916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160">
            <a:solidFill>
              <a:srgbClr val="059669">
                <a:alpha val="28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295144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0596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PASS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5943600" y="267919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rows / weight_sum / md5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726680" y="2167128"/>
            <a:ext cx="11887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160">
            <a:solidFill>
              <a:srgbClr val="2563EB">
                <a:alpha val="28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63840" y="229514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7863840" y="267919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输出股票数量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9098280" y="2167128"/>
            <a:ext cx="13258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160">
            <a:solidFill>
              <a:srgbClr val="2563EB">
                <a:alpha val="28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35440" y="2295144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7140…b16</a:t>
            </a:r>
            <a:endParaRPr lang="en-US" sz="2250" dirty="0"/>
          </a:p>
        </p:txBody>
      </p:sp>
      <p:sp>
        <p:nvSpPr>
          <p:cNvPr id="34" name="Text 32"/>
          <p:cNvSpPr/>
          <p:nvPr/>
        </p:nvSpPr>
        <p:spPr>
          <a:xfrm>
            <a:off x="9235440" y="2679192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一致性MD5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486400" y="3977640"/>
            <a:ext cx="5257800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8890">
            <a:solidFill>
              <a:srgbClr val="D8E4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06440" y="420624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关键命令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806440" y="4553712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bash app/run_submission.sh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bash app/freeze_submission.sh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pytest -q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docker compose up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68680" y="580644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可复现性不是附加项，而是本课题“完成质量”和“技术深度”的证据。</a:t>
            </a:r>
            <a:endParaRPr lang="en-US" sz="109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336792"/>
            <a:ext cx="11064240" cy="0"/>
          </a:xfrm>
          <a:prstGeom prst="line">
            <a:avLst/>
          </a:prstGeom>
          <a:noFill/>
          <a:ln w="12700">
            <a:solidFill>
              <a:srgbClr val="D8E4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>
              <a:alpha val="95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84048"/>
            <a:ext cx="832104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未完整落地方向与边界说明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658368" y="886968"/>
            <a:ext cx="81838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坚持“做实而非堆名词”：未纳入正式链路的方向以调研和适用性分析呈现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8979408" y="438912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110 LAB · Research Presentation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11000232" y="640080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621792" y="640080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沪深300收益预测与组合推荐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731520" y="1307592"/>
            <a:ext cx="3520440" cy="579120"/>
          </a:xfrm>
          <a:prstGeom prst="rect">
            <a:avLst/>
          </a:prstGeom>
          <a:solidFill>
            <a:srgbClr val="EAF2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1353312"/>
            <a:ext cx="3447288" cy="4876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方向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1307592"/>
            <a:ext cx="3520440" cy="579120"/>
          </a:xfrm>
          <a:prstGeom prst="rect">
            <a:avLst/>
          </a:prstGeom>
          <a:solidFill>
            <a:srgbClr val="EAF2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88536" y="1353312"/>
            <a:ext cx="3447288" cy="4876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当前处理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772400" y="1307592"/>
            <a:ext cx="3520440" cy="579120"/>
          </a:xfrm>
          <a:prstGeom prst="rect">
            <a:avLst/>
          </a:prstGeom>
          <a:solidFill>
            <a:srgbClr val="EAF2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08976" y="1353312"/>
            <a:ext cx="3447288" cy="4876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原因 / 后续路径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31520" y="1886712"/>
            <a:ext cx="3520440" cy="579120"/>
          </a:xfrm>
          <a:prstGeom prst="rect">
            <a:avLst/>
          </a:prstGeom>
          <a:solidFill>
            <a:srgbClr val="FFFF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1932432"/>
            <a:ext cx="3447288" cy="4876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ARIMA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251960" y="1886712"/>
            <a:ext cx="3520440" cy="579120"/>
          </a:xfrm>
          <a:prstGeom prst="rect">
            <a:avLst/>
          </a:prstGeom>
          <a:solidFill>
            <a:srgbClr val="FFFF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88536" y="1932432"/>
            <a:ext cx="3447288" cy="4876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调研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772400" y="1886712"/>
            <a:ext cx="3520440" cy="579120"/>
          </a:xfrm>
          <a:prstGeom prst="rect">
            <a:avLst/>
          </a:prstGeom>
          <a:solidFill>
            <a:srgbClr val="FFFF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08976" y="1932432"/>
            <a:ext cx="3447288" cy="4876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单变量平稳建模更适合解释，不直接适配横截面Top-K选股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31520" y="2465832"/>
            <a:ext cx="3520440" cy="579120"/>
          </a:xfrm>
          <a:prstGeom prst="rect">
            <a:avLst/>
          </a:prstGeom>
          <a:solidFill>
            <a:srgbClr val="FAFC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2511552"/>
            <a:ext cx="3447288" cy="4876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Qlib / FinRL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251960" y="2465832"/>
            <a:ext cx="3520440" cy="579120"/>
          </a:xfrm>
          <a:prstGeom prst="rect">
            <a:avLst/>
          </a:prstGeom>
          <a:solidFill>
            <a:srgbClr val="FAFC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88536" y="2511552"/>
            <a:ext cx="3447288" cy="4876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适用性分析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772400" y="2465832"/>
            <a:ext cx="3520440" cy="579120"/>
          </a:xfrm>
          <a:prstGeom prst="rect">
            <a:avLst/>
          </a:prstGeom>
          <a:solidFill>
            <a:srgbClr val="FAFC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08976" y="2511552"/>
            <a:ext cx="3447288" cy="4876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平台接入成本高，适合作为独立分支而非临时拼接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31520" y="3044952"/>
            <a:ext cx="3520440" cy="579120"/>
          </a:xfrm>
          <a:prstGeom prst="rect">
            <a:avLst/>
          </a:prstGeom>
          <a:solidFill>
            <a:srgbClr val="FFFF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096" y="3090672"/>
            <a:ext cx="3447288" cy="4876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TFT / N-HiTS / TSFM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251960" y="3044952"/>
            <a:ext cx="3520440" cy="579120"/>
          </a:xfrm>
          <a:prstGeom prst="rect">
            <a:avLst/>
          </a:prstGeom>
          <a:solidFill>
            <a:srgbClr val="FFFF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88536" y="3090672"/>
            <a:ext cx="3447288" cy="4876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调研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772400" y="3044952"/>
            <a:ext cx="3520440" cy="579120"/>
          </a:xfrm>
          <a:prstGeom prst="rect">
            <a:avLst/>
          </a:prstGeom>
          <a:solidFill>
            <a:srgbClr val="FFFF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08976" y="3090672"/>
            <a:ext cx="3447288" cy="4876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对数据规模、算力和严格验证设计要求更高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31520" y="3624072"/>
            <a:ext cx="3520440" cy="579120"/>
          </a:xfrm>
          <a:prstGeom prst="rect">
            <a:avLst/>
          </a:prstGeom>
          <a:solidFill>
            <a:srgbClr val="FAFC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8096" y="3669792"/>
            <a:ext cx="3447288" cy="4876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Transformer-lite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251960" y="3624072"/>
            <a:ext cx="3520440" cy="579120"/>
          </a:xfrm>
          <a:prstGeom prst="rect">
            <a:avLst/>
          </a:prstGeom>
          <a:solidFill>
            <a:srgbClr val="FAFC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88536" y="3669792"/>
            <a:ext cx="3447288" cy="4876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已实验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772400" y="3624072"/>
            <a:ext cx="3520440" cy="579120"/>
          </a:xfrm>
          <a:prstGeom prst="rect">
            <a:avLst/>
          </a:prstGeom>
          <a:solidFill>
            <a:srgbClr val="FAFC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08976" y="3669792"/>
            <a:ext cx="3447288" cy="4876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当前RankIC / Sharpe / 回撤不足以替换主线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31520" y="4203192"/>
            <a:ext cx="3520440" cy="579120"/>
          </a:xfrm>
          <a:prstGeom prst="rect">
            <a:avLst/>
          </a:prstGeom>
          <a:solidFill>
            <a:srgbClr val="FFFF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8096" y="4248912"/>
            <a:ext cx="3447288" cy="4876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时间序列基础模型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251960" y="4203192"/>
            <a:ext cx="3520440" cy="579120"/>
          </a:xfrm>
          <a:prstGeom prst="rect">
            <a:avLst/>
          </a:prstGeom>
          <a:solidFill>
            <a:srgbClr val="FFFF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88536" y="4248912"/>
            <a:ext cx="3447288" cy="4876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后续重点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772400" y="4203192"/>
            <a:ext cx="3520440" cy="579120"/>
          </a:xfrm>
          <a:prstGeom prst="rect">
            <a:avLst/>
          </a:prstGeom>
          <a:solidFill>
            <a:srgbClr val="FFFFFF"/>
          </a:solidFill>
          <a:ln w="5715">
            <a:solidFill>
              <a:srgbClr val="D8E4F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08976" y="4248912"/>
            <a:ext cx="3447288" cy="4876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可开展零样本、少样本、跨股票泛化对照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914400" y="5230368"/>
            <a:ext cx="9966960" cy="658368"/>
          </a:xfrm>
          <a:prstGeom prst="roundRect">
            <a:avLst>
              <a:gd name="adj" fmla="val 8333"/>
            </a:avLst>
          </a:prstGeom>
          <a:solidFill>
            <a:srgbClr val="F4F8FF"/>
          </a:solidFill>
          <a:ln w="1016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32688" y="5276088"/>
            <a:ext cx="64008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143000" y="5449824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原则：与其把未稳定的模型写入正式实验链路，不如明确边界、保留证据、规划可复现的后续实验。</a:t>
            </a:r>
            <a:endParaRPr lang="en-US" sz="11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336792"/>
            <a:ext cx="11064240" cy="0"/>
          </a:xfrm>
          <a:prstGeom prst="line">
            <a:avLst/>
          </a:prstGeom>
          <a:noFill/>
          <a:ln w="12700">
            <a:solidFill>
              <a:srgbClr val="D8E4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>
              <a:alpha val="95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400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总结与展望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58368" y="1298448"/>
            <a:ext cx="1828800" cy="0"/>
          </a:xfrm>
          <a:prstGeom prst="line">
            <a:avLst/>
          </a:prstGeom>
          <a:noFill/>
          <a:ln w="2667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828800"/>
            <a:ext cx="97840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D8E4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93392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研究闭环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94560" y="1984248"/>
            <a:ext cx="7955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完成数据处理、特征工程、模型比较、排序推荐、组合回测、冻结提交</a:t>
            </a:r>
            <a:endParaRPr lang="en-US" sz="1040" dirty="0"/>
          </a:p>
        </p:txBody>
      </p:sp>
      <p:sp>
        <p:nvSpPr>
          <p:cNvPr id="9" name="Shape 7"/>
          <p:cNvSpPr/>
          <p:nvPr/>
        </p:nvSpPr>
        <p:spPr>
          <a:xfrm>
            <a:off x="777240" y="2633472"/>
            <a:ext cx="9784080" cy="530352"/>
          </a:xfrm>
          <a:prstGeom prst="roundRect">
            <a:avLst>
              <a:gd name="adj" fmla="val 10345"/>
            </a:avLst>
          </a:prstGeom>
          <a:solidFill>
            <a:srgbClr val="F7FBFF"/>
          </a:solidFill>
          <a:ln w="8890">
            <a:solidFill>
              <a:srgbClr val="D8E4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798064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核心结论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94560" y="2788920"/>
            <a:ext cx="7955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LSTM sl20作为默认主线；aggressive变体作为最终提交结果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777240" y="3438144"/>
            <a:ext cx="97840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D8E4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602736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工程交付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94560" y="3593592"/>
            <a:ext cx="7955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result.csv、测试、Docker一致性、文档与Demo材料均已整理</a:t>
            </a:r>
            <a:endParaRPr lang="en-US" sz="1040" dirty="0"/>
          </a:p>
        </p:txBody>
      </p:sp>
      <p:sp>
        <p:nvSpPr>
          <p:cNvPr id="15" name="Shape 13"/>
          <p:cNvSpPr/>
          <p:nvPr/>
        </p:nvSpPr>
        <p:spPr>
          <a:xfrm>
            <a:off x="777240" y="4242816"/>
            <a:ext cx="9784080" cy="530352"/>
          </a:xfrm>
          <a:prstGeom prst="roundRect">
            <a:avLst>
              <a:gd name="adj" fmla="val 10345"/>
            </a:avLst>
          </a:prstGeom>
          <a:solidFill>
            <a:srgbClr val="F7FBFF"/>
          </a:solidFill>
          <a:ln w="8890">
            <a:solidFill>
              <a:srgbClr val="D8E4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407408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后续工作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94560" y="4398264"/>
            <a:ext cx="7955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加强滚动验证，独立接入Qlib/FinRL，系统比较TSFM适用边界</a:t>
            </a:r>
            <a:endParaRPr lang="en-US" sz="1040" dirty="0"/>
          </a:p>
        </p:txBody>
      </p:sp>
      <p:sp>
        <p:nvSpPr>
          <p:cNvPr id="18" name="Shape 16"/>
          <p:cNvSpPr/>
          <p:nvPr/>
        </p:nvSpPr>
        <p:spPr>
          <a:xfrm>
            <a:off x="804672" y="5394960"/>
            <a:ext cx="9692640" cy="384048"/>
          </a:xfrm>
          <a:prstGeom prst="roundRect">
            <a:avLst>
              <a:gd name="adj" fmla="val 14286"/>
            </a:avLst>
          </a:prstGeom>
          <a:solidFill>
            <a:srgbClr val="F3FCFA"/>
          </a:solidFill>
          <a:ln w="10160">
            <a:solidFill>
              <a:srgbClr val="0EA5A4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5440680"/>
            <a:ext cx="64008" cy="292608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5504688"/>
            <a:ext cx="9372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A5A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Demo路线：流程图 → 关键命令 → 模型对比 → 提交快照 → Docker一致性 → 未落地方向说明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705088" y="59253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 &amp; A</a:t>
            </a:r>
            <a:endParaRPr lang="en-US" sz="2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110实验室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基于机器学习与组合回测的沪深300成分股收益预测及推荐研究</dc:title>
  <dc:subject>沪深300股票收益预测与组合推荐</dc:subject>
  <dc:creator>OpenAI</dc:creator>
  <cp:lastModifiedBy>OpenAI</cp:lastModifiedBy>
  <cp:revision>1</cp:revision>
  <dcterms:created xsi:type="dcterms:W3CDTF">2026-05-27T05:20:19Z</dcterms:created>
  <dcterms:modified xsi:type="dcterms:W3CDTF">2026-05-27T05:20:19Z</dcterms:modified>
</cp:coreProperties>
</file>